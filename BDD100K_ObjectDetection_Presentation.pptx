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BOSCH  ·  Applied CV Interview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BDD100K 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9C0FF"/>
                </a:solidFill>
                <a:latin typeface="Calibri"/>
              </a:rPr>
              <a:t>End-to-End Data Science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256032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24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EB"/>
                </a:solidFill>
                <a:latin typeface="Calibri"/>
              </a:rPr>
              <a:t>📊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  <a:latin typeface="Calibri"/>
              </a:rPr>
              <a:t>EDA · Dashboard ·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8" y="4114800"/>
            <a:ext cx="256032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4224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  <a:latin typeface="Calibri"/>
              </a:rPr>
              <a:t>🤖 YOLOv8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  <a:latin typeface="Calibri"/>
              </a:rPr>
              <a:t>Pre-trained · Fine-tuned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4114800"/>
            <a:ext cx="256032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4224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9922"/>
                </a:solidFill>
                <a:latin typeface="Calibri"/>
              </a:rPr>
              <a:t>📈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  <a:latin typeface="Calibri"/>
              </a:rPr>
              <a:t>mAP · Precision ·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5577840"/>
            <a:ext cx="50292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D1D9"/>
                </a:solidFill>
                <a:latin typeface="Calibri"/>
              </a:rPr>
              <a:t>Dataset: BDD100K  ·  100k Images  ·  10 Classes  ·  70k Train / 10k 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84F58"/>
                </a:solidFill>
                <a:latin typeface="Calibri"/>
              </a:rPr>
              <a:t>Siddharth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Assignment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286000" cy="365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3749039" cy="530352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C0FF"/>
                </a:solidFill>
                <a:latin typeface="Calibri"/>
              </a:rPr>
              <a:t>What Was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Task 1 — Data Analysis  (10 pts)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Parse BDD JSON, check class distribution,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train/val split, anomalies, dashboard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C9D1D9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Task 2 — Model  (5 + 5 pts)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Choose &amp; justify a model, explain arch,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build DataLoader, train for 1 epoch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C9D1D9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Task 3 — Evaluation  (10 pts)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Quant: mAP, Precision, Recall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Qual: GT vs Pred, failure clusters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C9D1D9"/>
                </a:solidFill>
                <a:latin typeface="Calibri"/>
              </a:rPr>
              <a:t>Connect EDA → model failures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C9D1D9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E3B341"/>
                </a:solidFill>
                <a:latin typeface="Calibri"/>
              </a:rPr>
              <a:t>Deliverable: GitHub repo +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914400"/>
            <a:ext cx="3840480" cy="530352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24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  <a:latin typeface="Calibri"/>
              </a:rPr>
              <a:t>Solution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3474720" cy="384048"/>
          </a:xfrm>
          <a:prstGeom prst="rect">
            <a:avLst/>
          </a:prstGeom>
          <a:solidFill>
            <a:srgbClr val="0D1117"/>
          </a:solidFill>
          <a:ln w="1016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9C0FF"/>
                </a:solidFill>
                <a:latin typeface="Calibri"/>
              </a:rPr>
              <a:t>▶  BDD100K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92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0363D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34747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    JSON Parser → Data Structures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86000"/>
            <a:ext cx="3474720" cy="384048"/>
          </a:xfrm>
          <a:prstGeom prst="rect">
            <a:avLst/>
          </a:prstGeom>
          <a:solidFill>
            <a:srgbClr val="0D1117"/>
          </a:solidFill>
          <a:ln w="1016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9C0FF"/>
                </a:solidFill>
                <a:latin typeface="Calibri"/>
              </a:rPr>
              <a:t>▶  EDA + Dashboard +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700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0363D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880360"/>
            <a:ext cx="34747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    YOLOv8n (COCO pre-trained)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3474720" cy="384048"/>
          </a:xfrm>
          <a:prstGeom prst="rect">
            <a:avLst/>
          </a:prstGeom>
          <a:solidFill>
            <a:srgbClr val="0D1117"/>
          </a:solidFill>
          <a:ln w="1016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063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Calibri"/>
              </a:rPr>
              <a:t>▶  Custom DataLoader + Trainer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472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0363D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57600"/>
            <a:ext cx="34747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6576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    Inference on Val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474720" cy="384048"/>
          </a:xfrm>
          <a:prstGeom prst="rect">
            <a:avLst/>
          </a:prstGeom>
          <a:solidFill>
            <a:srgbClr val="0D1117"/>
          </a:solidFill>
          <a:ln w="1016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840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▶  mAP · Confusion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24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0363D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434840"/>
            <a:ext cx="34747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4348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    Failure Analysis + Suggestions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914400"/>
            <a:ext cx="3566160" cy="530352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0241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Calibri"/>
              </a:rPr>
              <a:t>Tech Stack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508760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508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9C0FF"/>
                </a:solidFill>
                <a:latin typeface="Calibri"/>
              </a:rPr>
              <a:t>Python 3.10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002536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20025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Calibri"/>
              </a:rPr>
              <a:t>YOLOv8  (Ultralytics)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496312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496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D364"/>
                </a:solidFill>
                <a:latin typeface="Calibri"/>
              </a:rPr>
              <a:t>PyTorch + torchvision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990088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990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OpenCV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3483864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34838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alibri"/>
              </a:rPr>
              <a:t>Plotly Dash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977640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977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Matplotlib + Seaborn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471416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4714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A043"/>
                </a:solidFill>
                <a:latin typeface="Calibri"/>
              </a:rPr>
              <a:t>Docker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965192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9651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PEP8 · black · pylint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5458968"/>
            <a:ext cx="320040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54589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9C0FF"/>
                </a:solidFill>
                <a:latin typeface="Calibri"/>
              </a:rPr>
              <a:t>Jupyter Notebooks (×3)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1 —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286000" cy="365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28600"/>
            <a:ext cx="1371600" cy="347472"/>
          </a:xfrm>
          <a:prstGeom prst="rect">
            <a:avLst/>
          </a:prstGeom>
          <a:solidFill>
            <a:srgbClr val="0D2A4F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228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9C0FF"/>
                </a:solidFill>
                <a:latin typeface="Calibri"/>
              </a:rPr>
              <a:t>10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83464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966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  <a:latin typeface="Calibri"/>
              </a:rPr>
              <a:t>⚠  Class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car = 38% of all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train class = only 0.3%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150× imbalance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B341"/>
                </a:solidFill>
                <a:latin typeface="Calibri"/>
              </a:rPr>
              <a:t>→  Focal loss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960120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960120"/>
            <a:ext cx="283464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9966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9C0FF"/>
                </a:solidFill>
                <a:latin typeface="Calibri"/>
              </a:rPr>
              <a:t>📐  Object Sizes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Bus/Truck → large (easy)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Pedestrian → 30×90 px (hard)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Traffic light → 25×60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B341"/>
                </a:solidFill>
                <a:latin typeface="Calibri"/>
              </a:rPr>
              <a:t>→  Multi-scale FPN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960120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960120"/>
            <a:ext cx="283464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9966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  <a:latin typeface="Calibri"/>
              </a:rPr>
              <a:t>🌙  Scene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55% Daytime  |  33% Night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52% Clear  |  9% Rainy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35% City street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B341"/>
                </a:solidFill>
                <a:latin typeface="Calibri"/>
              </a:rPr>
              <a:t>→  Night aug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960120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4" y="960120"/>
            <a:ext cx="283464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9966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Calibri"/>
              </a:rPr>
              <a:t>🔍  Anomalies Found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~4% empty frames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~8% occluded objects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•  ~2% truncated objects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B341"/>
                </a:solidFill>
                <a:latin typeface="Calibri"/>
              </a:rPr>
              <a:t>→  Influences FP/FN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03320"/>
            <a:ext cx="1154887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9C0FF"/>
                </a:solidFill>
                <a:latin typeface="Calibri"/>
              </a:rPr>
              <a:t>What Was Built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24528"/>
            <a:ext cx="5669280" cy="530352"/>
          </a:xfrm>
          <a:prstGeom prst="rect">
            <a:avLst/>
          </a:prstGeom>
          <a:solidFill>
            <a:srgbClr val="0D1117"/>
          </a:solidFill>
          <a:ln w="762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270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9C0FF"/>
                </a:solidFill>
                <a:latin typeface="Calibri"/>
              </a:rPr>
              <a:t>bdd_parser.py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4988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BDDDataset · BDDFrame · BDDLabel data structures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82896"/>
            <a:ext cx="5669280" cy="530352"/>
          </a:xfrm>
          <a:prstGeom prst="rect">
            <a:avLst/>
          </a:prstGeom>
          <a:solidFill>
            <a:srgbClr val="0D1117"/>
          </a:solidFill>
          <a:ln w="762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9286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analysis.py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1572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Class dist · BBox stats · Anomaly detection · Attribute plots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541264"/>
            <a:ext cx="5669280" cy="530352"/>
          </a:xfrm>
          <a:prstGeom prst="rect">
            <a:avLst/>
          </a:prstGeom>
          <a:solidFill>
            <a:srgbClr val="0D1117"/>
          </a:solidFill>
          <a:ln w="762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586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B341"/>
                </a:solidFill>
                <a:latin typeface="Calibri"/>
              </a:rPr>
              <a:t>dashboard.py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8155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Plotly Dash — 4 tabs · runs at localhost:8050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224528"/>
            <a:ext cx="5669280" cy="530352"/>
          </a:xfrm>
          <a:prstGeom prst="rect">
            <a:avLst/>
          </a:prstGeom>
          <a:solidFill>
            <a:srgbClr val="0D1117"/>
          </a:solidFill>
          <a:ln w="762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270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6D364"/>
                </a:solidFill>
                <a:latin typeface="Calibri"/>
              </a:rPr>
              <a:t>Dockerfile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44988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Self-contained container · no host installations needed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882896"/>
            <a:ext cx="5669280" cy="530352"/>
          </a:xfrm>
          <a:prstGeom prst="rect">
            <a:avLst/>
          </a:prstGeom>
          <a:solidFill>
            <a:srgbClr val="0D1117"/>
          </a:solidFill>
          <a:ln w="762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49286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01_data_analysis.ipynb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51572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End-to-end walkthrough notebook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2 — Model: YOLOv8n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28600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1554480" cy="347472"/>
          </a:xfrm>
          <a:prstGeom prst="rect">
            <a:avLst/>
          </a:prstGeom>
          <a:solidFill>
            <a:srgbClr val="0A1E0A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28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6D364"/>
                </a:solidFill>
                <a:latin typeface="Calibri"/>
              </a:rPr>
              <a:t>5 + 5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411480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  <a:latin typeface="Calibri"/>
              </a:rPr>
              <a:t>Why YOLOv8n?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6D364"/>
                </a:solidFill>
                <a:latin typeface="Calibri"/>
              </a:rPr>
              <a:t>✅ 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120+ FPS on GPU — critical for 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122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✅  COCO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1226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BDD100K classes map directly to COCO pre-trained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✅  Anchor-free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DFL loss handles tall pedestrians &amp; small traffic lights better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✅  Multi-scale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19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P3/P4/P5 heads detect small &amp; large objects simultaneously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1D9"/>
                </a:solidFill>
                <a:latin typeface="Calibri"/>
              </a:rPr>
              <a:t>✅  Export-ready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227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ONNX / TensorRT for edge deployment (Jetson)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5149"/>
                </a:solidFill>
                <a:latin typeface="Calibri"/>
              </a:rPr>
              <a:t>❌  RT-DETR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526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Better mAP but 2× slower — overkill for real-time 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97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5149"/>
                </a:solidFill>
                <a:latin typeface="Calibri"/>
              </a:rPr>
              <a:t>❌  Faster R-CNN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12978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Two-stage, 5× slower, not suited for real-time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960120"/>
            <a:ext cx="411480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  <a:latin typeface="Calibri"/>
              </a:rPr>
              <a:t>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508760"/>
            <a:ext cx="3840480" cy="365760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Input  640 × 640 ×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029967"/>
            <a:ext cx="3840480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02996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6D364"/>
                </a:solidFill>
                <a:latin typeface="Calibri"/>
              </a:rPr>
              <a:t>Backbone — CSPDarknet + C2f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55117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→  Cross-Stage Partial + bottleneck fusion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072381"/>
            <a:ext cx="3840480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07238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6D364"/>
                </a:solidFill>
                <a:latin typeface="Calibri"/>
              </a:rPr>
              <a:t>Neck — PANet (FPN)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5935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→  P3 [80×80]  P4 [40×40]  P5 [20×20]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4114795"/>
            <a:ext cx="3840480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1147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6D364"/>
                </a:solidFill>
                <a:latin typeface="Calibri"/>
              </a:rPr>
              <a:t>Head — Decoupled (anchor-free)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63600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→  Cls branch: BCE  |  Reg branch: CIoU+DFL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5157209"/>
            <a:ext cx="3840480" cy="365760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515720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Output — Boxes + Class Scores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6784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Calibri"/>
              </a:rPr>
              <a:t>→  3.2M parameters  |  COCO mAP 37.3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960120"/>
            <a:ext cx="292608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1051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  <a:latin typeface="Calibri"/>
              </a:rPr>
              <a:t>DataLoader +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1508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6D364"/>
                </a:solidFill>
                <a:latin typeface="Calibri"/>
              </a:rPr>
              <a:t>dataloader.py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8470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BDD100KDetectionDataset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1854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Resize 640×640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5237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YOLO normalised labels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862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Augment: flip + jitter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collate_fn (var length)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538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8770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6D364"/>
                </a:solidFill>
                <a:latin typeface="Calibri"/>
              </a:rPr>
              <a:t>trainer.py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2153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BDD JSON → YOLO format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Write labels + symlinks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892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data.yaml config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303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3B341"/>
                </a:solidFill>
                <a:latin typeface="Calibri"/>
              </a:rPr>
              <a:t>→ yolo.train() 1 epoch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55686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→ 1000 imgs subset demo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5907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6D364"/>
                </a:solidFill>
                <a:latin typeface="Calibri"/>
              </a:rPr>
              <a:t>→ Saves best.pt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3 — Evaluation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286000" cy="3657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28600"/>
            <a:ext cx="1371600" cy="347472"/>
          </a:xfrm>
          <a:prstGeom prst="rect">
            <a:avLst/>
          </a:prstGeom>
          <a:solidFill>
            <a:srgbClr val="2D1F00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228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  <a:latin typeface="Calibri"/>
              </a:rPr>
              <a:t>10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  <a:latin typeface="Calibri"/>
              </a:rPr>
              <a:t>mAP@0.5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Primary OD benchmark
IoU ≥ 0.5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96012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  <a:latin typeface="Calibri"/>
              </a:rPr>
              <a:t>mAP@0.5:0.95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463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COCO-style stricter
Tests localisation quality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38744" y="96012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C0FF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463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TP / (TP+FP)
Avoid false alarms in AV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  <a:latin typeface="Calibr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TP / (TP+FN)
⚠ Safety-critical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237744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  <a:latin typeface="Calibri"/>
              </a:rPr>
              <a:t>Per-class 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880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Identify weak classes
Guide improvements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2377440"/>
            <a:ext cx="3749039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C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D1D9"/>
                </a:solidFill>
                <a:latin typeface="Calibri"/>
              </a:rPr>
              <a:t>Confusion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880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  <a:latin typeface="Calibri"/>
              </a:rPr>
              <a:t>Class-pair confusions
rider ↔ pedestrian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13632"/>
            <a:ext cx="1154887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  <a:latin typeface="Calibri"/>
              </a:rPr>
              <a:t>What the Code Produces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34840"/>
            <a:ext cx="3749039" cy="2240280"/>
          </a:xfrm>
          <a:prstGeom prst="rect">
            <a:avLst/>
          </a:prstGeom>
          <a:solidFill>
            <a:srgbClr val="0D1117"/>
          </a:solidFill>
          <a:ln w="1016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07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9922"/>
                </a:solidFill>
                <a:latin typeface="Calibri"/>
              </a:rPr>
              <a:t>Quantitative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per_class_metrics.csv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21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summary.json  (mAP@0.5)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686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per_class_ap.png  (bar chart)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16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precision_recall_curves.png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63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confusion_matrix.png  (heatmap)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4434840"/>
            <a:ext cx="3749039" cy="2240280"/>
          </a:xfrm>
          <a:prstGeom prst="rect">
            <a:avLst/>
          </a:prstGeom>
          <a:solidFill>
            <a:srgbClr val="0D1117"/>
          </a:solidFill>
          <a:ln w="1016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4507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9C0FF"/>
                </a:solidFill>
                <a:latin typeface="Calibri"/>
              </a:rPr>
              <a:t>Qualitative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20× GT vs Prediction overlays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221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Top-10 failure images gallery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55686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failure_clusters.png  (by scene)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5916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missed_vs_detected_sizes.png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6263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Cluster: Night / Rain / Crowded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38744" y="4434840"/>
            <a:ext cx="3749039" cy="2240280"/>
          </a:xfrm>
          <a:prstGeom prst="rect">
            <a:avLst/>
          </a:prstGeom>
          <a:solidFill>
            <a:srgbClr val="0D1117"/>
          </a:solidFill>
          <a:ln w="1016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4507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  <a:latin typeface="Calibri"/>
              </a:rPr>
              <a:t>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Night: +40% miss rate vs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5221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Small objects: Recall &lt; 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5686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Rare classes (train): AP &lt; 0.1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5916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rider ↔ pedestrian confusion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6263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• Connect EDA → model failures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Insights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743200" cy="36576"/>
          </a:xfrm>
          <a:prstGeom prst="rect">
            <a:avLst/>
          </a:prstGeom>
          <a:solidFill>
            <a:srgbClr val="BC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65760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  <a:latin typeface="Calibri"/>
              </a:rPr>
              <a:t>✅  What Works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383280" cy="896112"/>
          </a:xfrm>
          <a:prstGeom prst="rect">
            <a:avLst/>
          </a:prstGeom>
          <a:solidFill>
            <a:srgbClr val="0D2818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Calibri"/>
              </a:rPr>
              <a:t>Large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Bus, truck, car — high AP
Distinctive shape + texture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3383280" cy="896112"/>
          </a:xfrm>
          <a:prstGeom prst="rect">
            <a:avLst/>
          </a:prstGeom>
          <a:solidFill>
            <a:srgbClr val="0D2818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Calibri"/>
              </a:rPr>
              <a:t>Traffic signs/lights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Distinctive colours help
Consistent visual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57016"/>
            <a:ext cx="3383280" cy="896112"/>
          </a:xfrm>
          <a:prstGeom prst="rect">
            <a:avLst/>
          </a:prstGeom>
          <a:solidFill>
            <a:srgbClr val="0D2818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Calibri"/>
              </a:rPr>
              <a:t>Daytime clear scenes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684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Well-lit → strong features
Good localisation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81144"/>
            <a:ext cx="3383280" cy="896112"/>
          </a:xfrm>
          <a:prstGeom prst="rect">
            <a:avLst/>
          </a:prstGeom>
          <a:solidFill>
            <a:srgbClr val="0D2818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542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  <a:latin typeface="Calibri"/>
              </a:rPr>
              <a:t>Dense urban scenes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9262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Mosaic augmentation helps
Multiple objects per 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960120"/>
            <a:ext cx="365760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Calibri"/>
              </a:rPr>
              <a:t>❌  What Fails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508760"/>
            <a:ext cx="3383280" cy="896112"/>
          </a:xfrm>
          <a:prstGeom prst="rect">
            <a:avLst/>
          </a:prstGeom>
          <a:solidFill>
            <a:srgbClr val="2D0A0A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alibri"/>
              </a:rPr>
              <a:t>Small objects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Cyclist/pedestrian far away
&lt; 30px height → missed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32888"/>
            <a:ext cx="3383280" cy="896112"/>
          </a:xfrm>
          <a:prstGeom prst="rect">
            <a:avLst/>
          </a:prstGeom>
          <a:solidFill>
            <a:srgbClr val="2D0A0A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alibri"/>
              </a:rPr>
              <a:t>Night-time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+40% miss rate vs day
Pre-train bias toward daylight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557016"/>
            <a:ext cx="3383280" cy="896112"/>
          </a:xfrm>
          <a:prstGeom prst="rect">
            <a:avLst/>
          </a:prstGeom>
          <a:solidFill>
            <a:srgbClr val="2D0A0A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alibri"/>
              </a:rPr>
              <a:t>Rare classes (train)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9684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Only 0.3% of data → AP &lt; 0.1
Almost no training signal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581144"/>
            <a:ext cx="3383280" cy="896112"/>
          </a:xfrm>
          <a:prstGeom prst="rect">
            <a:avLst/>
          </a:prstGeom>
          <a:solidFill>
            <a:srgbClr val="2D0A0A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6542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alibri"/>
              </a:rPr>
              <a:t>Rider vs Pedestrian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99262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Contextual class — needs
bicycle detection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960120"/>
            <a:ext cx="3840480" cy="5349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Calibri"/>
              </a:rPr>
              <a:t>🚀  Improvements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E1500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15636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→  Night Augmentation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1892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Gamma correction, brightness
jitter to simulate night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E1500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404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→  SAHI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7340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Slice 1280px images → 640px
patches for small objects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E1500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32461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→  Focal 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5753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γ=2 down-weights easy examples
forces focus on rare classes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E1500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0873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→  Class-Weighted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4165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weight = 1/√freq
Rare classes get higher signal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E1500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92861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alibri"/>
              </a:rPr>
              <a:t>→  YOLOv8s / 1280px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2578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Larger model or higher res
for better small obj recall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Deliverables &amp; Repository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27432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303520" cy="5349240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📁 Sid_Work/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├─ 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Full documentation + run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├─ 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11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All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408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A043"/>
                </a:solidFill>
                <a:latin typeface="Courier New"/>
              </a:rPr>
              <a:t>├─ 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408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Self-contained analysis 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A043"/>
                </a:solidFill>
                <a:latin typeface="Courier New"/>
              </a:rPr>
              <a:t>├─ docker-compose.yml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70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Analysis + Dashboard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9C0FF"/>
                </a:solidFill>
                <a:latin typeface="Courier New"/>
              </a:rPr>
              <a:t>├─ 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CLI: analysis/dashboard/model/train/evaluate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├─ flow_diagram.py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630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Pipeline visual (this deck's backbone)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599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9C0FF"/>
                </a:solidFill>
                <a:latin typeface="Courier New"/>
              </a:rPr>
              <a:t>├─ src/data_analysis/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bdd_parser · analysis ·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89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6D364"/>
                </a:solidFill>
                <a:latin typeface="Courier New"/>
              </a:rPr>
              <a:t>├─ src/model/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970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model_loader · dataloader ·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B341"/>
                </a:solidFill>
                <a:latin typeface="Courier New"/>
              </a:rPr>
              <a:t>├─ src/evaluation/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919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evaluator · visualizer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├─ notebooks/ (×3)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01_eda · 02_model · 03_evaluation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79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└─ docs/analysis_report.md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7790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F58"/>
                </a:solidFill>
                <a:latin typeface="Calibri"/>
              </a:rPr>
              <a:t>Detailed written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960120"/>
            <a:ext cx="6035040" cy="2423160"/>
          </a:xfrm>
          <a:prstGeom prst="rect">
            <a:avLst/>
          </a:prstGeom>
          <a:solidFill>
            <a:srgbClr val="0D1117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051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C0FF"/>
                </a:solidFill>
                <a:latin typeface="Calibri"/>
              </a:rPr>
              <a:t>How to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463040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9C0FF"/>
                </a:solidFill>
                <a:latin typeface="Courier New"/>
              </a:rPr>
              <a:t>pip install -r requirements.txt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581912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700784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3B341"/>
                </a:solidFill>
                <a:latin typeface="Courier New"/>
              </a:rPr>
              <a:t># Data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19656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9C0FF"/>
                </a:solidFill>
                <a:latin typeface="Courier New"/>
              </a:rPr>
              <a:t>python main.py --task analysis \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938528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--train_json data/labels/det_20/det_train.json \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057400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--val_json   data/labels/det_20/det_val.json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176272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295144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3B341"/>
                </a:solidFill>
                <a:latin typeface="Courier New"/>
              </a:rPr>
              <a:t># Interactive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414016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9C0FF"/>
                </a:solidFill>
                <a:latin typeface="Courier New"/>
              </a:rPr>
              <a:t>python main.py --task dashboard  →  localhost:8050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2532888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651760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3B341"/>
                </a:solidFill>
                <a:latin typeface="Courier New"/>
              </a:rPr>
              <a:t># Train (1 epoch / 1000 imgs demo)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770632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9C0FF"/>
                </a:solidFill>
                <a:latin typeface="Courier New"/>
              </a:rPr>
              <a:t>python main.py --task train --subset_size 1000 --epochs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889504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008376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3B341"/>
                </a:solidFill>
                <a:latin typeface="Courier New"/>
              </a:rPr>
              <a:t># Full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127248"/>
            <a:ext cx="5669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9C0FF"/>
                </a:solidFill>
                <a:latin typeface="Courier New"/>
              </a:rPr>
              <a:t>python main.py --task evaluate --output_dir results/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3520440"/>
            <a:ext cx="6035040" cy="2788920"/>
          </a:xfrm>
          <a:prstGeom prst="rect">
            <a:avLst/>
          </a:prstGeom>
          <a:solidFill>
            <a:srgbClr val="0A1A0A"/>
          </a:solidFill>
          <a:ln w="1016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36118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A043"/>
                </a:solidFill>
                <a:latin typeface="Calibri"/>
              </a:rPr>
              <a:t>🐳  Docker (Data Analysis — self-contained)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04164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A043"/>
                </a:solidFill>
                <a:latin typeface="Courier New"/>
              </a:rPr>
              <a:t>docker build -t bdd-analysis 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2153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38912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A043"/>
                </a:solidFill>
                <a:latin typeface="Courier New"/>
              </a:rPr>
              <a:t>docker run --rm \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5628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-v /path/to/bdd100k/labels:/app/data/labels \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736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-v /path/to/bdd100k/images:/app/data/images \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91032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-v $(pwd)/results:/app/results \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08406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bdd-analysis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2578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54315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3B341"/>
                </a:solidFill>
                <a:latin typeface="Courier New"/>
              </a:rPr>
              <a:t># Dashboard at localhost:8050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6052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A043"/>
                </a:solidFill>
                <a:latin typeface="Courier New"/>
              </a:rPr>
              <a:t>docker run --rm -p 8050:8050 \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77900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-v /path/to/labels:/app/data/labels \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59527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ourier New"/>
              </a:rPr>
              <a:t>  bdd-analysis python main.py --task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84F58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